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lus Jakarta Sans"/>
      <p:regular r:id="rId27"/>
      <p:bold r:id="rId28"/>
      <p:italic r:id="rId29"/>
      <p:boldItalic r:id="rId30"/>
    </p:embeddedFont>
    <p:embeddedFont>
      <p:font typeface="Space Grotesk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B6EEC9-1F3D-4413-89D4-5639D395B318}">
  <a:tblStyle styleId="{01B6EEC9-1F3D-4413-89D4-5639D395B3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regular.fntdata"/><Relationship Id="rId30" Type="http://schemas.openxmlformats.org/officeDocument/2006/relationships/font" Target="fonts/PlusJakarta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5cc5276089220fcf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h5cc5276089220fcf_1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5cc5276089220fcf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5cc5276089220fcf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5cc5276089220fcf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h5cc5276089220fcf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5cc5276089220fcf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5cc5276089220fcf_1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5cc5276089220fcf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5cc5276089220fcf_1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5cc5276089220fcf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5cc5276089220fcf_1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5cc5276089220fcf_1_4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h5cc5276089220fcf_1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5cc5276089220fcf_1_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h5cc5276089220fcf_1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h5cc5276089220fcf_1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h5cc5276089220fcf_1_4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5cc5276089220fcf_1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h5cc5276089220fcf_1_5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30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16.png"/><Relationship Id="rId5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Relationship Id="rId4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36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Relationship Id="rId8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hyperlink" Target="https://drive.google.com/file/d/1Hh7jdOWmkBXBWkHSzl3eEJcc5ISss4XI/view?usp=sharing" TargetMode="External"/><Relationship Id="rId5" Type="http://schemas.openxmlformats.org/officeDocument/2006/relationships/hyperlink" Target="https://colab.research.google.com/drive/1jY_Q164hLVce-_eW7OZA0ysFMZ5IVUU9?usp=drive_link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0" y="0"/>
            <a:ext cx="12942345" cy="7155600"/>
            <a:chOff x="0" y="0"/>
            <a:chExt cx="12942345" cy="7155600"/>
          </a:xfrm>
        </p:grpSpPr>
        <p:pic>
          <p:nvPicPr>
            <p:cNvPr id="85" name="Google Shape;8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12942345" cy="715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3"/>
            <p:cNvSpPr/>
            <p:nvPr/>
          </p:nvSpPr>
          <p:spPr>
            <a:xfrm>
              <a:off x="0" y="0"/>
              <a:ext cx="12577800" cy="7155600"/>
            </a:xfrm>
            <a:prstGeom prst="rect">
              <a:avLst/>
            </a:prstGeom>
            <a:solidFill>
              <a:srgbClr val="D01F31">
                <a:alpha val="5688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D01F31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762000" y="4536727"/>
            <a:ext cx="10668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856972"/>
            <a:ext cx="86010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Optimasi Operasional Pengiriman &amp; Efisiensi Layanan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186602"/>
            <a:ext cx="6953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komprehensif faktor-faktor penentu waktu pengiriman, pengujian hipotesis, dan rekomendasi strategis berbasis data.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917725"/>
            <a:ext cx="416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Muhammad Rizky Ginanjar | DABI 23</a:t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75" y="351000"/>
            <a:ext cx="3835600" cy="38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2720" y="-1395942"/>
            <a:ext cx="13520850" cy="956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609600" y="1299125"/>
            <a:ext cx="11125500" cy="51018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09600" y="1299120"/>
            <a:ext cx="38100" cy="5101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800" y="407387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LATAR BELAKANG &amp; PERNYATAAN MASALAH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Hubungan Waktu Pengiriman &amp; Rating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886800" y="4540475"/>
            <a:ext cx="10418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Pengaruh Signifikan:</a:t>
            </a:r>
            <a:r>
              <a:rPr lang="en-US">
                <a:solidFill>
                  <a:schemeClr val="dk1"/>
                </a:solidFill>
              </a:rPr>
              <a:t> Waktu pengiriman merupakan penentu utama dalam membentuk kepuasan pelanggan dan perolehan rating kurir.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Korelasi Positif:</a:t>
            </a:r>
            <a:r>
              <a:rPr lang="en-US">
                <a:solidFill>
                  <a:schemeClr val="dk1"/>
                </a:solidFill>
              </a:rPr>
              <a:t> Pengiriman yang lebih cepat secara konsisten menghasilkan rating kurir yang lebih tinggi, mencerminkan kualitas layanan yang optimal.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229700" y="4069111"/>
            <a:ext cx="1862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Latar Belakang</a:t>
            </a:r>
            <a:endParaRPr/>
          </a:p>
        </p:txBody>
      </p:sp>
      <p:pic>
        <p:nvPicPr>
          <p:cNvPr id="108" name="Google Shape;108;p15" title="WhatsApp Image 2026-10-21 at 21.34.3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450" y="1650013"/>
            <a:ext cx="880110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609600" y="1299120"/>
            <a:ext cx="3505200" cy="51018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343400" y="1299120"/>
            <a:ext cx="3505200" cy="51018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8077200" y="1299120"/>
            <a:ext cx="3505200" cy="51018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09600" y="1299120"/>
            <a:ext cx="38100" cy="5101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343400" y="1299120"/>
            <a:ext cx="38100" cy="5101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077200" y="1299120"/>
            <a:ext cx="38100" cy="5101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272593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0100" y="272593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0" y="272593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LATAR BELAKANG &amp; PERNYATAAN MASALAH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Tantangan Operasional &amp; Pendekatan Solusi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876300" y="3111698"/>
            <a:ext cx="3105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Ketidakstabilan waktu pengiriman selama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jam sibuk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cuaca buruk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berdampak negatif pada kepuasan pelanggan serta efisiensi operasional.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10100" y="3111698"/>
            <a:ext cx="3105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eksploratif (EDA) dan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pengujian hipotesis statistik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(ANOVA &amp; t-test) untuk mengidentifikasi variabel kunci penentu durasi pengantaran.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343900" y="3111698"/>
            <a:ext cx="3105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Meningkatkan ketepatan waktu pengiriman, optimasi alokasi armada, dan dorongan pada pertumbuhan pendapatan berkelanjutan.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219200" y="2721173"/>
            <a:ext cx="1862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Masalah Utama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90600" y="4159448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66800" y="4178498"/>
            <a:ext cx="291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Volatilitas Tinggi: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Estimasi SLA sering meleset saat peak hours.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90600" y="4597598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66800" y="4616648"/>
            <a:ext cx="291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Risiko Churn: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Keterlambatan menurunkan retensi pengguna.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953000" y="2721173"/>
            <a:ext cx="22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Pendekatan Solusi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724400" y="4159448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800600" y="4178498"/>
            <a:ext cx="291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Uji Hipotesis: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Evaluasi rating, cuaca, kendaraan &amp; traffic.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24400" y="4597598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800600" y="4616648"/>
            <a:ext cx="291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Rekomendasi: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Perumusan aksi operasional terukur.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86800" y="2721173"/>
            <a:ext cx="1775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Dampak Bisnis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58200" y="4159448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34400" y="4178498"/>
            <a:ext cx="291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Efisiensi Biaya: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Penghematan bahan bakar &amp; waktu kurir.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458200" y="4597598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534400" y="4616648"/>
            <a:ext cx="291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Loyalitas Pelanggan: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SLA pengiriman yang lebih konsisten.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ALUR KERJA PROYEK</a:t>
            </a:r>
            <a:endParaRPr b="1" sz="1050">
              <a:solidFill>
                <a:schemeClr val="l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Tahapan Analisis Operasional</a:t>
            </a:r>
            <a:endParaRPr b="1" sz="24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609588" y="2362212"/>
            <a:ext cx="2072700" cy="1066800"/>
          </a:xfrm>
          <a:prstGeom prst="roundRect">
            <a:avLst>
              <a:gd fmla="val 89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900318" y="3429012"/>
            <a:ext cx="2072700" cy="1066800"/>
          </a:xfrm>
          <a:prstGeom prst="roundRect">
            <a:avLst>
              <a:gd fmla="val 89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159585" y="2362212"/>
            <a:ext cx="2072700" cy="1066800"/>
          </a:xfrm>
          <a:prstGeom prst="roundRect">
            <a:avLst>
              <a:gd fmla="val 89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350279" y="3429012"/>
            <a:ext cx="2072700" cy="1066800"/>
          </a:xfrm>
          <a:prstGeom prst="roundRect">
            <a:avLst>
              <a:gd fmla="val 89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9509534" y="2362212"/>
            <a:ext cx="2072700" cy="1066800"/>
          </a:xfrm>
          <a:prstGeom prst="roundRect">
            <a:avLst>
              <a:gd fmla="val 89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809613" y="2562237"/>
            <a:ext cx="2090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Data Understanding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09613" y="2771787"/>
            <a:ext cx="1767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Eksplorasi struktur data delivery, variabilitas fitur, dan tipe data.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100343" y="3629037"/>
            <a:ext cx="2090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Data Processing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3100343" y="3838587"/>
            <a:ext cx="1767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Pembersihan nilai hilang, penanganan anomaly, dan feature engineering.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359602" y="2562225"/>
            <a:ext cx="1767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Exploratory Analysis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359610" y="2771787"/>
            <a:ext cx="1767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Identifikasi korelasi jarak, cuaca, lalulintas, dan waktu tempuh.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550304" y="3629037"/>
            <a:ext cx="2090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Dashboard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550304" y="3838587"/>
            <a:ext cx="1767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Visualisasi interaktif KPI pengiriman dan pemantauan armada.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709559" y="2562237"/>
            <a:ext cx="2090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Insight &amp; Rekomendasi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709559" y="2771787"/>
            <a:ext cx="1767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 aksi untuk efisiensi rute dan optimasi operasional.</a:t>
            </a:r>
            <a:endParaRPr/>
          </a:p>
        </p:txBody>
      </p:sp>
      <p:cxnSp>
        <p:nvCxnSpPr>
          <p:cNvPr id="163" name="Google Shape;163;p17"/>
          <p:cNvCxnSpPr>
            <a:stCxn id="148" idx="2"/>
            <a:endCxn id="149" idx="1"/>
          </p:cNvCxnSpPr>
          <p:nvPr/>
        </p:nvCxnSpPr>
        <p:spPr>
          <a:xfrm>
            <a:off x="1645938" y="3429012"/>
            <a:ext cx="1254300" cy="5334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" name="Google Shape;164;p17"/>
          <p:cNvCxnSpPr>
            <a:stCxn id="149" idx="0"/>
            <a:endCxn id="150" idx="1"/>
          </p:cNvCxnSpPr>
          <p:nvPr/>
        </p:nvCxnSpPr>
        <p:spPr>
          <a:xfrm flipH="1" rot="10800000">
            <a:off x="3936668" y="2895612"/>
            <a:ext cx="1222800" cy="5334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" name="Google Shape;165;p17"/>
          <p:cNvCxnSpPr>
            <a:endCxn id="150" idx="3"/>
          </p:cNvCxnSpPr>
          <p:nvPr/>
        </p:nvCxnSpPr>
        <p:spPr>
          <a:xfrm rot="10800000">
            <a:off x="7232285" y="2895612"/>
            <a:ext cx="1154400" cy="5334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6" name="Google Shape;166;p17"/>
          <p:cNvCxnSpPr>
            <a:stCxn id="152" idx="2"/>
            <a:endCxn id="151" idx="3"/>
          </p:cNvCxnSpPr>
          <p:nvPr/>
        </p:nvCxnSpPr>
        <p:spPr>
          <a:xfrm flipH="1">
            <a:off x="9422984" y="3429012"/>
            <a:ext cx="1122900" cy="5334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614363" y="1979380"/>
            <a:ext cx="4831800" cy="1000200"/>
          </a:xfrm>
          <a:prstGeom prst="roundRect">
            <a:avLst>
              <a:gd fmla="val 1142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14363" y="3131905"/>
            <a:ext cx="4831800" cy="1000200"/>
          </a:xfrm>
          <a:prstGeom prst="roundRect">
            <a:avLst>
              <a:gd fmla="val 1142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14363" y="4284430"/>
            <a:ext cx="4831800" cy="1009800"/>
          </a:xfrm>
          <a:prstGeom prst="roundRect">
            <a:avLst>
              <a:gd fmla="val 11320" name="adj"/>
            </a:avLst>
          </a:prstGeom>
          <a:solidFill>
            <a:srgbClr val="172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98493" y="3131905"/>
            <a:ext cx="19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748736" y="3131905"/>
            <a:ext cx="3828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798493" y="3674830"/>
            <a:ext cx="19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748736" y="3674830"/>
            <a:ext cx="3828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98493" y="4217755"/>
            <a:ext cx="1950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748736" y="4217755"/>
            <a:ext cx="3828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388" y="220321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388" y="3355742"/>
            <a:ext cx="171450" cy="152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18"/>
          <p:cNvGraphicFramePr/>
          <p:nvPr/>
        </p:nvGraphicFramePr>
        <p:xfrm>
          <a:off x="5788968" y="1979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{01B6EEC9-1F3D-4413-89D4-5639D395B318}</a:tableStyleId>
              </a:tblPr>
              <a:tblGrid>
                <a:gridCol w="1950250"/>
                <a:gridCol w="3828900"/>
              </a:tblGrid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Table Name (Virtual Schema)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Key &amp; Key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1D48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zomato_deliveries</a:t>
                      </a:r>
                      <a:b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(Main Dataset)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ID</a:t>
                      </a: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(PK), Delivery_person_ID, Order_Date, Time_Orderd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spatial_dimension</a:t>
                      </a:r>
                      <a:b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(Inferred Geo)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Restaurant/Delivery Lat-Long, City (Metropolitan, Urban, Semi-Urban)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driver_dimension</a:t>
                      </a:r>
                      <a:b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(Inferred Profile)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Delivery_person_Age, Delivery_person_Ratings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logistics_metrics</a:t>
                      </a:r>
                      <a:br>
                        <a:rPr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8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(Engineered Features)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Time_taken (min), distance_km, multiple_deliveries, Road_traffic_density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18"/>
          <p:cNvSpPr txBox="1"/>
          <p:nvPr/>
        </p:nvSpPr>
        <p:spPr>
          <a:xfrm>
            <a:off x="609600" y="457200"/>
            <a:ext cx="11582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ARSITEKTUR DATA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609600" y="666750"/>
            <a:ext cx="11582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Overview &amp; Virtual Schema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814388" y="2436580"/>
            <a:ext cx="452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Flat Transactional Schema diproses menjadi Virtual Star-Schema di Power BI untuk optimasi file.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14388" y="3589105"/>
            <a:ext cx="452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Granularitas tingkat transaksi (Row-level per single order) diproteksi oleh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Unique Transaction ID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3407718" y="4636855"/>
            <a:ext cx="1809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transaksi operasional terkonsolidasi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081088" y="2179405"/>
            <a:ext cx="188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Architecture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081088" y="3331930"/>
            <a:ext cx="255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Granularitas &amp; Primary Key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42963" y="4513030"/>
            <a:ext cx="139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E11D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45K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42963" y="4913080"/>
            <a:ext cx="1390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BARIS DATA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FAKTOR LINGKUNGAN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609600" y="704850"/>
            <a:ext cx="11582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Lonjakan Order Bersamaan dengan Mobilitas Kurir yang Melambat saat </a:t>
            </a:r>
            <a:endParaRPr b="1" sz="24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Cuaca Buruk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98" name="Google Shape;198;p19"/>
          <p:cNvGrpSpPr/>
          <p:nvPr/>
        </p:nvGrpSpPr>
        <p:grpSpPr>
          <a:xfrm>
            <a:off x="609600" y="4335660"/>
            <a:ext cx="5715000" cy="1333500"/>
            <a:chOff x="6477000" y="2030610"/>
            <a:chExt cx="5715000" cy="1333500"/>
          </a:xfrm>
        </p:grpSpPr>
        <p:sp>
          <p:nvSpPr>
            <p:cNvPr id="199" name="Google Shape;199;p19"/>
            <p:cNvSpPr/>
            <p:nvPr/>
          </p:nvSpPr>
          <p:spPr>
            <a:xfrm>
              <a:off x="6477000" y="2030610"/>
              <a:ext cx="5105400" cy="1333500"/>
            </a:xfrm>
            <a:prstGeom prst="roundRect">
              <a:avLst>
                <a:gd fmla="val 8571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00" name="Google Shape;20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05600" y="2287785"/>
              <a:ext cx="1905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19"/>
            <p:cNvSpPr txBox="1"/>
            <p:nvPr/>
          </p:nvSpPr>
          <p:spPr>
            <a:xfrm>
              <a:off x="6705600" y="2259210"/>
              <a:ext cx="54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6670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Pola Durasi Pengiriman</a:t>
              </a: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6705600" y="2535435"/>
              <a:ext cx="47436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Cuaca </a:t>
              </a:r>
              <a:r>
                <a:rPr b="1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Cloudy</a:t>
              </a:r>
              <a:r>
                <a:rPr b="0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dan </a:t>
              </a:r>
              <a:r>
                <a:rPr b="1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Fog</a:t>
              </a:r>
              <a:r>
                <a:rPr b="0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mengalami durasi pengiriman terlama (</a:t>
              </a:r>
              <a:r>
                <a:rPr b="1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~29 menit</a:t>
              </a:r>
              <a:r>
                <a:rPr b="0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), berkontribusi pada keterlambatan sekitar </a:t>
              </a:r>
              <a:r>
                <a:rPr b="1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36% lebih lambat</a:t>
              </a:r>
              <a:r>
                <a:rPr b="0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dibanding kondisi cerah (21.23 menit).</a:t>
              </a:r>
              <a:endParaRPr/>
            </a:p>
          </p:txBody>
        </p:sp>
      </p:grpSp>
      <p:grpSp>
        <p:nvGrpSpPr>
          <p:cNvPr id="203" name="Google Shape;203;p19"/>
          <p:cNvGrpSpPr/>
          <p:nvPr/>
        </p:nvGrpSpPr>
        <p:grpSpPr>
          <a:xfrm>
            <a:off x="6324600" y="4335660"/>
            <a:ext cx="5715000" cy="1333500"/>
            <a:chOff x="6477000" y="3516510"/>
            <a:chExt cx="5715000" cy="1333500"/>
          </a:xfrm>
        </p:grpSpPr>
        <p:sp>
          <p:nvSpPr>
            <p:cNvPr id="204" name="Google Shape;204;p19"/>
            <p:cNvSpPr/>
            <p:nvPr/>
          </p:nvSpPr>
          <p:spPr>
            <a:xfrm>
              <a:off x="6477000" y="3516510"/>
              <a:ext cx="5105400" cy="1333500"/>
            </a:xfrm>
            <a:prstGeom prst="roundRect">
              <a:avLst>
                <a:gd fmla="val 8571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05" name="Google Shape;20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05600" y="3773685"/>
              <a:ext cx="13335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9"/>
            <p:cNvSpPr txBox="1"/>
            <p:nvPr/>
          </p:nvSpPr>
          <p:spPr>
            <a:xfrm>
              <a:off x="6705600" y="3745110"/>
              <a:ext cx="54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0955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Volume Pesanan Tertinggi</a:t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6705600" y="4021335"/>
              <a:ext cx="4743600" cy="6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Volume pengiriman puncak terjadi saat cuaca buruk: </a:t>
              </a:r>
              <a:r>
                <a:rPr b="1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Fog (5,094 pesanan)</a:t>
              </a:r>
              <a:r>
                <a:rPr b="0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dan </a:t>
              </a:r>
              <a:r>
                <a:rPr b="1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Stormy (5,008 pesanan)</a:t>
              </a:r>
              <a:r>
                <a:rPr b="0" i="0" lang="en-US" sz="1125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. Kondisi Sunny justru mencatat order terendah (4,623).</a:t>
              </a:r>
              <a:endParaRPr/>
            </a:p>
          </p:txBody>
        </p:sp>
      </p:grpSp>
      <p:sp>
        <p:nvSpPr>
          <p:cNvPr id="208" name="Google Shape;208;p19"/>
          <p:cNvSpPr/>
          <p:nvPr/>
        </p:nvSpPr>
        <p:spPr>
          <a:xfrm>
            <a:off x="609600" y="5944600"/>
            <a:ext cx="10816500" cy="481800"/>
          </a:xfrm>
          <a:prstGeom prst="roundRect">
            <a:avLst>
              <a:gd fmla="val 11428" name="adj"/>
            </a:avLst>
          </a:prstGeom>
          <a:solidFill>
            <a:srgbClr val="FFF1F2"/>
          </a:solidFill>
          <a:ln cap="flat" cmpd="sng" w="9525">
            <a:solidFill>
              <a:srgbClr val="FFE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135110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771525" y="6106525"/>
            <a:ext cx="1039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F123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Takeaway: Saat cuaca memburuk, permintaan meningkat berbarengan dengan melambatnya kecepatan kurir.</a:t>
            </a:r>
            <a:endParaRPr/>
          </a:p>
        </p:txBody>
      </p:sp>
      <p:pic>
        <p:nvPicPr>
          <p:cNvPr id="211" name="Google Shape;21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8050" y="1805424"/>
            <a:ext cx="52959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2363950" y="3921150"/>
            <a:ext cx="7008600" cy="2581200"/>
          </a:xfrm>
          <a:prstGeom prst="roundRect">
            <a:avLst>
              <a:gd fmla="val 442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406337" y="4153273"/>
            <a:ext cx="924000" cy="219000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LONJAKAN WAKTU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09600" y="704850"/>
            <a:ext cx="11582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Waktu Pengiriman Membengkak hingga +75% Menjadi Tantangan Utama Musim Festival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377762" y="4191373"/>
            <a:ext cx="98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Efek Festival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802690" y="4524748"/>
            <a:ext cx="21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23744"/>
                </a:solidFill>
                <a:latin typeface="Space Grotesk"/>
                <a:ea typeface="Space Grotesk"/>
                <a:cs typeface="Space Grotesk"/>
                <a:sym typeface="Space Grotesk"/>
              </a:rPr>
              <a:t>45.36 </a:t>
            </a:r>
            <a:r>
              <a:rPr b="1" i="0" lang="en-US" sz="1500" u="none" cap="none" strike="noStrik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386864" y="5096248"/>
            <a:ext cx="296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Pengiriman Saat Festival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2915550" y="5448673"/>
            <a:ext cx="590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Dibandingkan hari biasa (</a:t>
            </a: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25.92 min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), waktu pengiriman membengkak hingga </a:t>
            </a: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+75%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selama periode festival akibat lonjakan pemesanan dan kemacetan.</a:t>
            </a:r>
            <a:endParaRPr/>
          </a:p>
        </p:txBody>
      </p:sp>
      <p:pic>
        <p:nvPicPr>
          <p:cNvPr id="224" name="Google Shape;2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950" y="1545675"/>
            <a:ext cx="4878599" cy="2136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2758400"/>
            <a:ext cx="5759400" cy="248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/>
          <p:nvPr/>
        </p:nvSpPr>
        <p:spPr>
          <a:xfrm>
            <a:off x="6524625" y="1825823"/>
            <a:ext cx="5057700" cy="1300200"/>
          </a:xfrm>
          <a:prstGeom prst="roundRect">
            <a:avLst>
              <a:gd fmla="val 586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524625" y="3316485"/>
            <a:ext cx="5057700" cy="1086000"/>
          </a:xfrm>
          <a:prstGeom prst="roundRect">
            <a:avLst>
              <a:gd fmla="val 701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524625" y="4592835"/>
            <a:ext cx="5057700" cy="1300200"/>
          </a:xfrm>
          <a:prstGeom prst="roundRect">
            <a:avLst>
              <a:gd fmla="val 58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6524625" y="1825823"/>
            <a:ext cx="38100" cy="13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524625" y="3316485"/>
            <a:ext cx="38100" cy="10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524625" y="4592835"/>
            <a:ext cx="38100" cy="1300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3225" y="204013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3225" y="353079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3225" y="480714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PERFORMA OPERASIONAL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609600" y="68580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Beban Kemacetan Lalu Lintas &amp; Perlambatan Waktu Pengiriman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6753225" y="2292548"/>
            <a:ext cx="4734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Kondisi </a:t>
            </a:r>
            <a:r>
              <a:rPr b="1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Jam</a:t>
            </a:r>
            <a:r>
              <a:rPr b="0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mencatat waktu pengiriman terlama sebesar </a:t>
            </a:r>
            <a:r>
              <a:rPr b="1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31.02 menit</a:t>
            </a:r>
            <a:r>
              <a:rPr b="0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(+46% lebih lambat dibanding kondisi </a:t>
            </a:r>
            <a:r>
              <a:rPr b="0" i="1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</a:t>
            </a:r>
            <a:r>
              <a:rPr b="0" i="0" lang="en-US" sz="1125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), meskipun volume pesanan tergolong tinggi (9.14K).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753225" y="3783210"/>
            <a:ext cx="4734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Lalu lintas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menangani volume pengiriman tertinggi (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10.10K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dengan waktu paling cepat yaitu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21.21 menit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753225" y="5059560"/>
            <a:ext cx="4734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Waktu pengiriman relatif stabil pada level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Medium (26.82m)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(27.26m)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meskipun volume pengiriman pada level High mengalami penurunan signifikan (hanya 3.01K).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7019925" y="2016323"/>
            <a:ext cx="310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Lonjakan Waktu Utama (Jam)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7000875" y="3506985"/>
            <a:ext cx="368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 Efisiensi Tertinggi (Low)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7019925" y="4783335"/>
            <a:ext cx="380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Stabilisasi Kategori Medium &amp; High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2597046"/>
            <a:ext cx="5739575" cy="252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/>
          <p:nvPr/>
        </p:nvSpPr>
        <p:spPr>
          <a:xfrm>
            <a:off x="6524625" y="1718667"/>
            <a:ext cx="5057700" cy="1300200"/>
          </a:xfrm>
          <a:prstGeom prst="roundRect">
            <a:avLst>
              <a:gd fmla="val 586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6524625" y="3209329"/>
            <a:ext cx="5057700" cy="1300200"/>
          </a:xfrm>
          <a:prstGeom prst="roundRect">
            <a:avLst>
              <a:gd fmla="val 586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6524625" y="4699992"/>
            <a:ext cx="5057700" cy="1300200"/>
          </a:xfrm>
          <a:prstGeom prst="roundRect">
            <a:avLst>
              <a:gd fmla="val 58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524625" y="1718667"/>
            <a:ext cx="38100" cy="1300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524625" y="3209329"/>
            <a:ext cx="38100" cy="13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6524625" y="4699992"/>
            <a:ext cx="38100" cy="1300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3225" y="193297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3225" y="342364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3225" y="4914304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DISTRIBUSI AREA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609600" y="68580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Ketimpangan Jumlah Kurir Mempengaruhi Durasi Pengiriman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6753225" y="2185392"/>
            <a:ext cx="4734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Wilayah </a:t>
            </a:r>
            <a:r>
              <a:rPr b="1" i="0" lang="en-US" sz="1125" u="none" cap="none" strike="noStrike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Semi-Urban</a:t>
            </a:r>
            <a:r>
              <a:rPr b="0" i="0" lang="en-US" sz="1125" u="none" cap="none" strike="noStrike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mencatat waktu pengiriman terlama yaitu </a:t>
            </a:r>
            <a:r>
              <a:rPr b="1" i="0" lang="en-US" sz="1125" u="none" cap="none" strike="noStrike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49.37 menit</a:t>
            </a:r>
            <a:r>
              <a:rPr b="0" i="0" lang="en-US" sz="1125" u="none" cap="none" strike="noStrike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akibat minimnya alokasi kurir yang hanya berjumlah </a:t>
            </a:r>
            <a:r>
              <a:rPr b="1" i="0" lang="en-US" sz="1125" u="none" cap="none" strike="noStrike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85 orang</a:t>
            </a:r>
            <a:r>
              <a:rPr b="0" i="0" lang="en-US" sz="1125" u="none" cap="none" strike="noStrike">
                <a:solidFill>
                  <a:srgbClr val="7C2D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(~3.8% dari total armada).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753225" y="3676054"/>
            <a:ext cx="4734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Area </a:t>
            </a:r>
            <a:r>
              <a:rPr b="1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Urban</a:t>
            </a:r>
            <a: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menjadi yang paling efisien dengan rata-rata durasi pengiriman </a:t>
            </a:r>
            <a:r>
              <a:rPr b="1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23.03 menit</a:t>
            </a:r>
            <a: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dengan dukungan jumlah kurir optimal sebanyak </a:t>
            </a:r>
            <a:r>
              <a:rPr b="1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1,033 orang</a:t>
            </a:r>
            <a:r>
              <a:rPr b="0" i="0" lang="en-US" sz="112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753225" y="5166717"/>
            <a:ext cx="4734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Area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Metropolitan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memiliki kapasitas armada terbesar (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1,090 kurir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dan berhasil menjaga stabilitas waktu layanan pada angka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27.11 menit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7019925" y="1909167"/>
            <a:ext cx="345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A34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Bottleneck Utama: Semi-Urban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7000875" y="3399829"/>
            <a:ext cx="307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Efisiensi Terbaik: Area Urban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7067550" y="4890492"/>
            <a:ext cx="305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C4A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Stabilitas Area Metropolitan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FAKTOR ARMADA &amp; KURIR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 Moda Transportasi Diwaktu Normal vs. Kemacetan Jam Sibuk 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75" name="Google Shape;275;p23"/>
          <p:cNvGrpSpPr/>
          <p:nvPr/>
        </p:nvGrpSpPr>
        <p:grpSpPr>
          <a:xfrm>
            <a:off x="8024706" y="1412922"/>
            <a:ext cx="4167300" cy="2517000"/>
            <a:chOff x="609600" y="3878597"/>
            <a:chExt cx="4167300" cy="2517000"/>
          </a:xfrm>
        </p:grpSpPr>
        <p:sp>
          <p:nvSpPr>
            <p:cNvPr id="276" name="Google Shape;276;p23"/>
            <p:cNvSpPr/>
            <p:nvPr/>
          </p:nvSpPr>
          <p:spPr>
            <a:xfrm>
              <a:off x="609600" y="3878597"/>
              <a:ext cx="3505200" cy="2517000"/>
            </a:xfrm>
            <a:prstGeom prst="roundRect">
              <a:avLst>
                <a:gd fmla="val 326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77" name="Google Shape;27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6300" y="4145295"/>
              <a:ext cx="238125" cy="266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8" name="Google Shape;278;p23"/>
            <p:cNvGrpSpPr/>
            <p:nvPr/>
          </p:nvGrpSpPr>
          <p:grpSpPr>
            <a:xfrm>
              <a:off x="876300" y="5512650"/>
              <a:ext cx="2971800" cy="590550"/>
              <a:chOff x="876300" y="5543550"/>
              <a:chExt cx="2971800" cy="590550"/>
            </a:xfrm>
          </p:grpSpPr>
          <p:sp>
            <p:nvSpPr>
              <p:cNvPr id="279" name="Google Shape;279;p23"/>
              <p:cNvSpPr/>
              <p:nvPr/>
            </p:nvSpPr>
            <p:spPr>
              <a:xfrm>
                <a:off x="876300" y="5543550"/>
                <a:ext cx="2971800" cy="590550"/>
              </a:xfrm>
              <a:prstGeom prst="roundRect">
                <a:avLst>
                  <a:gd fmla="val 1290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23"/>
              <p:cNvSpPr txBox="1"/>
              <p:nvPr/>
            </p:nvSpPr>
            <p:spPr>
              <a:xfrm>
                <a:off x="990600" y="5657850"/>
                <a:ext cx="2838600" cy="15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900" u="none" cap="none" strike="noStrike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Rekomendasi </a:t>
                </a:r>
                <a:r>
                  <a:rPr b="1" i="0" lang="en-US" sz="975" u="none" cap="none" strike="noStrike">
                    <a:solidFill>
                      <a:srgbClr val="1E293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Ideal untuk Off-Peak Urban</a:t>
                </a:r>
                <a:endParaRPr/>
              </a:p>
            </p:txBody>
          </p:sp>
        </p:grpSp>
        <p:sp>
          <p:nvSpPr>
            <p:cNvPr id="281" name="Google Shape;281;p23"/>
            <p:cNvSpPr txBox="1"/>
            <p:nvPr/>
          </p:nvSpPr>
          <p:spPr>
            <a:xfrm>
              <a:off x="876300" y="4526295"/>
              <a:ext cx="39006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2D374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Electric Scooter</a:t>
              </a:r>
              <a:endParaRPr/>
            </a:p>
          </p:txBody>
        </p:sp>
        <p:sp>
          <p:nvSpPr>
            <p:cNvPr id="282" name="Google Shape;282;p23"/>
            <p:cNvSpPr txBox="1"/>
            <p:nvPr/>
          </p:nvSpPr>
          <p:spPr>
            <a:xfrm>
              <a:off x="876300" y="4821570"/>
              <a:ext cx="30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Tercepat di jam normal (22.11 min), namun mengalami kenaikan signifikan saat peak hours (26.71 min).</a:t>
              </a:r>
              <a:endParaRPr/>
            </a:p>
          </p:txBody>
        </p:sp>
      </p:grpSp>
      <p:grpSp>
        <p:nvGrpSpPr>
          <p:cNvPr id="283" name="Google Shape;283;p23"/>
          <p:cNvGrpSpPr/>
          <p:nvPr/>
        </p:nvGrpSpPr>
        <p:grpSpPr>
          <a:xfrm>
            <a:off x="8024706" y="4075447"/>
            <a:ext cx="4167300" cy="2517000"/>
            <a:chOff x="4343400" y="3878597"/>
            <a:chExt cx="4167300" cy="2517000"/>
          </a:xfrm>
        </p:grpSpPr>
        <p:sp>
          <p:nvSpPr>
            <p:cNvPr id="284" name="Google Shape;284;p23"/>
            <p:cNvSpPr/>
            <p:nvPr/>
          </p:nvSpPr>
          <p:spPr>
            <a:xfrm>
              <a:off x="4343400" y="3878597"/>
              <a:ext cx="3505200" cy="2517000"/>
            </a:xfrm>
            <a:prstGeom prst="roundRect">
              <a:avLst>
                <a:gd fmla="val 326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85" name="Google Shape;285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10100" y="4145295"/>
              <a:ext cx="333375" cy="266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6" name="Google Shape;286;p23"/>
            <p:cNvGrpSpPr/>
            <p:nvPr/>
          </p:nvGrpSpPr>
          <p:grpSpPr>
            <a:xfrm>
              <a:off x="4610100" y="5512650"/>
              <a:ext cx="2971800" cy="590550"/>
              <a:chOff x="4610100" y="5543550"/>
              <a:chExt cx="2971800" cy="590550"/>
            </a:xfrm>
          </p:grpSpPr>
          <p:sp>
            <p:nvSpPr>
              <p:cNvPr id="287" name="Google Shape;287;p23"/>
              <p:cNvSpPr/>
              <p:nvPr/>
            </p:nvSpPr>
            <p:spPr>
              <a:xfrm>
                <a:off x="4610100" y="5543550"/>
                <a:ext cx="2971800" cy="590550"/>
              </a:xfrm>
              <a:prstGeom prst="roundRect">
                <a:avLst>
                  <a:gd fmla="val 1290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23"/>
              <p:cNvSpPr txBox="1"/>
              <p:nvPr/>
            </p:nvSpPr>
            <p:spPr>
              <a:xfrm>
                <a:off x="4724400" y="5657850"/>
                <a:ext cx="2838600" cy="15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900" u="none" cap="none" strike="noStrike">
                    <a:solidFill>
                      <a:srgbClr val="64748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Rekomendasi </a:t>
                </a:r>
                <a:r>
                  <a:rPr b="1" i="0" lang="en-US" sz="975" u="none" cap="none" strike="noStrike">
                    <a:solidFill>
                      <a:srgbClr val="1E293B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Navigasi Rute Dinamis</a:t>
                </a:r>
                <a:endParaRPr/>
              </a:p>
            </p:txBody>
          </p:sp>
        </p:grpSp>
        <p:sp>
          <p:nvSpPr>
            <p:cNvPr id="289" name="Google Shape;289;p23"/>
            <p:cNvSpPr txBox="1"/>
            <p:nvPr/>
          </p:nvSpPr>
          <p:spPr>
            <a:xfrm>
              <a:off x="4610100" y="4526295"/>
              <a:ext cx="39006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2D374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Motorcycle / Scooter</a:t>
              </a:r>
              <a:endParaRPr/>
            </a:p>
          </p:txBody>
        </p:sp>
        <p:sp>
          <p:nvSpPr>
            <p:cNvPr id="290" name="Google Shape;290;p23"/>
            <p:cNvSpPr txBox="1"/>
            <p:nvPr/>
          </p:nvSpPr>
          <p:spPr>
            <a:xfrm>
              <a:off x="4610100" y="4821570"/>
              <a:ext cx="3067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Motor konvensional mencatat waktu 30.41 min saat peak hours, paling terdampak kemacetan berat.</a:t>
              </a:r>
              <a:endParaRPr/>
            </a:p>
          </p:txBody>
        </p:sp>
      </p:grpSp>
      <p:pic>
        <p:nvPicPr>
          <p:cNvPr id="291" name="Google Shape;29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2503150"/>
            <a:ext cx="6855474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FAKTOR ARMADA &amp; KURIR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Kelompok </a:t>
            </a:r>
            <a:r>
              <a:rPr b="1" i="0" lang="en-US" sz="2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Usia Kurir Muda </a:t>
            </a: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Cenderung Lebih Cepat Dibanding Kurir Senior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98" name="Google Shape;29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35" y="1473675"/>
            <a:ext cx="6553575" cy="31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/>
          <p:nvPr/>
        </p:nvSpPr>
        <p:spPr>
          <a:xfrm>
            <a:off x="7783710" y="2222849"/>
            <a:ext cx="3505200" cy="16365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0" name="Google Shape;3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0410" y="248954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8050410" y="2870545"/>
            <a:ext cx="384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Demografi Usia Kurir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8050410" y="3165820"/>
            <a:ext cx="3067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Kurir usia 20-24 thn tercepat (22.99 min). Kelompok usia 30-34 thn mencatat waktu paling lama (29.32 min).</a:t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609600" y="5008053"/>
            <a:ext cx="3505200" cy="1399200"/>
          </a:xfrm>
          <a:prstGeom prst="roundRect">
            <a:avLst>
              <a:gd fmla="val 796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609600" y="5008062"/>
            <a:ext cx="3505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898950" y="5282337"/>
            <a:ext cx="38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Mentoring &amp; Training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898950" y="5634762"/>
            <a:ext cx="29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Training navigasi 30+ tahun: pangkas selisih 6–7 menit.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4355925" y="4996124"/>
            <a:ext cx="3505200" cy="1399200"/>
          </a:xfrm>
          <a:prstGeom prst="roundRect">
            <a:avLst>
              <a:gd fmla="val 796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4355925" y="4996132"/>
            <a:ext cx="3505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4645275" y="5270407"/>
            <a:ext cx="38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Alokasi Pengiriman Kilat</a:t>
            </a:r>
            <a:endParaRPr b="1" sz="1500">
              <a:solidFill>
                <a:srgbClr val="11182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4645275" y="5622832"/>
            <a:ext cx="29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Kurir muda (20–24th): fokus order ekspres, area komersial, &amp; jam sibuk.</a:t>
            </a:r>
            <a:endParaRPr sz="1200">
              <a:solidFill>
                <a:srgbClr val="4B556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8102250" y="4977157"/>
            <a:ext cx="3505200" cy="1399200"/>
          </a:xfrm>
          <a:prstGeom prst="roundRect">
            <a:avLst>
              <a:gd fmla="val 796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8102250" y="4977165"/>
            <a:ext cx="3505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8391600" y="5251440"/>
            <a:ext cx="38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SzPts val="1100"/>
              <a:buNone/>
            </a:pPr>
            <a:r>
              <a:rPr b="1" lang="en-US" sz="1500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Penugasan Jarak Pendek</a:t>
            </a:r>
            <a:endParaRPr b="1" sz="1500">
              <a:solidFill>
                <a:srgbClr val="11182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8391600" y="5603865"/>
            <a:ext cx="299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Tugaskan Kurir Senior (usia 30+ thn): fokus rute lokal &amp; cegah tumpah. </a:t>
            </a:r>
            <a:endParaRPr sz="1200">
              <a:solidFill>
                <a:srgbClr val="4B556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/>
          <p:nvPr/>
        </p:nvSpPr>
        <p:spPr>
          <a:xfrm>
            <a:off x="6467475" y="1676846"/>
            <a:ext cx="5115000" cy="1908300"/>
          </a:xfrm>
          <a:prstGeom prst="roundRect">
            <a:avLst>
              <a:gd fmla="val 3993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6467475" y="3737520"/>
            <a:ext cx="5115000" cy="1481700"/>
          </a:xfrm>
          <a:prstGeom prst="roundRect">
            <a:avLst>
              <a:gd fmla="val 5142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6467475" y="5371653"/>
            <a:ext cx="5115000" cy="632100"/>
          </a:xfrm>
          <a:prstGeom prst="roundRect">
            <a:avLst>
              <a:gd fmla="val 120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6467475" y="1676846"/>
            <a:ext cx="38100" cy="19083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6467475" y="3737520"/>
            <a:ext cx="38100" cy="14817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4" name="Google Shape;3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7025" y="1867346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7025" y="392802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KORELASI VARIABEL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609600" y="68580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Faktor Utama Waktu Tempuh: Pengaruh Multiple Deliveries vs. Rating Kurir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8" name="Google Shape;328;p25"/>
          <p:cNvSpPr txBox="1"/>
          <p:nvPr/>
        </p:nvSpPr>
        <p:spPr>
          <a:xfrm>
            <a:off x="6648450" y="5514528"/>
            <a:ext cx="4848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Rekomendasi Aksional: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Batasi kuota </a:t>
            </a:r>
            <a:r>
              <a:rPr b="0" i="1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multiple deliveries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 kurir dan utamakan pemeliharaan kendaraan operasional untuk mengoptimalkan durasi pengiriman.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6943725" y="1848296"/>
            <a:ext cx="4250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Pemicu Utama Keterlambatan (+ Korelasi)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6791325" y="2135951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6867525" y="2134046"/>
            <a:ext cx="4638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Multiple Deliveries (+0.39):</a:t>
            </a:r>
            <a:r>
              <a:rPr b="0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Faktor terbesar yang menambah waktu tempuh pengiriman.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6791325" y="2562492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6867525" y="2560587"/>
            <a:ext cx="4638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Usia Kurir (+0.30):</a:t>
            </a:r>
            <a:r>
              <a:rPr b="0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Kurir yang lebih senior cenderung mencatat durasi tempuh lebih tinggi.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6791325" y="2989034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867525" y="2987129"/>
            <a:ext cx="4638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Jam Sibuk / Peak Hours (+0.25):</a:t>
            </a:r>
            <a:r>
              <a:rPr b="0" i="0" lang="en-US" sz="1050" u="none" cap="none" strike="noStrike">
                <a:solidFill>
                  <a:srgbClr val="3730A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Kepadatan lalu lintas berdampak langsung pada durasi.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924675" y="3908970"/>
            <a:ext cx="4088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Faktor Efisiensi &amp; Kecepatan (- Korelasi)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6791325" y="4196625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6867525" y="4194720"/>
            <a:ext cx="4638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Rating Kurir (-0.36):</a:t>
            </a:r>
            <a:r>
              <a:rPr b="0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Performa tinggi berbanding lurus dengan efisiensi waktu yang lebih cepat.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6791325" y="4623167"/>
            <a:ext cx="7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6867525" y="4621262"/>
            <a:ext cx="46386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Kondisi Kendaraan (-0.24):</a:t>
            </a:r>
            <a:r>
              <a:rPr b="0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Armada yang terawat dengan baik signifikan mengurangi hambatan pengiriman.</a:t>
            </a:r>
            <a:endParaRPr/>
          </a:p>
        </p:txBody>
      </p:sp>
      <p:pic>
        <p:nvPicPr>
          <p:cNvPr id="341" name="Google Shape;34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1267475"/>
            <a:ext cx="5715349" cy="511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488" y="1309707"/>
            <a:ext cx="9909016" cy="27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6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POLA TEMPORAL &amp; JAM SIBUK (HOURLY HEATMAP)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609600" y="68580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Puncak Kemacetan Pengiriman Terjadi Pada Jam 19.00 - 21.00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49" name="Google Shape;349;p26"/>
          <p:cNvGrpSpPr/>
          <p:nvPr/>
        </p:nvGrpSpPr>
        <p:grpSpPr>
          <a:xfrm>
            <a:off x="872122" y="4333254"/>
            <a:ext cx="4603500" cy="985800"/>
            <a:chOff x="6978997" y="2209204"/>
            <a:chExt cx="4603500" cy="985800"/>
          </a:xfrm>
        </p:grpSpPr>
        <p:sp>
          <p:nvSpPr>
            <p:cNvPr id="350" name="Google Shape;350;p26"/>
            <p:cNvSpPr/>
            <p:nvPr/>
          </p:nvSpPr>
          <p:spPr>
            <a:xfrm>
              <a:off x="6978997" y="2209204"/>
              <a:ext cx="4603500" cy="985800"/>
            </a:xfrm>
            <a:prstGeom prst="roundRect">
              <a:avLst>
                <a:gd fmla="val 7729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6978997" y="2209204"/>
              <a:ext cx="38100" cy="985800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352" name="Google Shape;352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88547" y="2394942"/>
              <a:ext cx="152400" cy="171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26"/>
            <p:cNvSpPr txBox="1"/>
            <p:nvPr/>
          </p:nvSpPr>
          <p:spPr>
            <a:xfrm>
              <a:off x="7188547" y="2637829"/>
              <a:ext cx="4317600" cy="3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7F1D1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Durasi tertinggi mencapai </a:t>
              </a:r>
              <a:r>
                <a:rPr b="1" i="0" lang="en-US" sz="1012" u="none" cap="none" strike="noStrike">
                  <a:solidFill>
                    <a:srgbClr val="7F1D1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30–32 menit</a:t>
              </a:r>
              <a:r>
                <a:rPr b="0" i="0" lang="en-US" sz="1012" u="none" cap="none" strike="noStrike">
                  <a:solidFill>
                    <a:srgbClr val="7F1D1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secara konsisten setiap hari. Puncak terlama terjadi di hari </a:t>
              </a:r>
              <a:r>
                <a:rPr b="1" i="0" lang="en-US" sz="1012" u="none" cap="none" strike="noStrike">
                  <a:solidFill>
                    <a:srgbClr val="7F1D1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Jumat &amp; Rabu jam 21.00 (32.02 menit)</a:t>
              </a:r>
              <a:r>
                <a:rPr b="0" i="0" lang="en-US" sz="1012" u="none" cap="none" strike="noStrike">
                  <a:solidFill>
                    <a:srgbClr val="7F1D1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.</a:t>
              </a:r>
              <a:endParaRPr/>
            </a:p>
          </p:txBody>
        </p:sp>
        <p:sp>
          <p:nvSpPr>
            <p:cNvPr id="354" name="Google Shape;354;p26"/>
            <p:cNvSpPr txBox="1"/>
            <p:nvPr/>
          </p:nvSpPr>
          <p:spPr>
            <a:xfrm>
              <a:off x="7417147" y="2380654"/>
              <a:ext cx="341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991B1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Peak Bottleneck: Jam 19.00 - 21.00</a:t>
              </a:r>
              <a:endParaRPr/>
            </a:p>
          </p:txBody>
        </p:sp>
      </p:grpSp>
      <p:grpSp>
        <p:nvGrpSpPr>
          <p:cNvPr id="355" name="Google Shape;355;p26"/>
          <p:cNvGrpSpPr/>
          <p:nvPr/>
        </p:nvGrpSpPr>
        <p:grpSpPr>
          <a:xfrm>
            <a:off x="6716372" y="4333242"/>
            <a:ext cx="4603500" cy="985800"/>
            <a:chOff x="6978997" y="3347442"/>
            <a:chExt cx="4603500" cy="985800"/>
          </a:xfrm>
        </p:grpSpPr>
        <p:sp>
          <p:nvSpPr>
            <p:cNvPr id="356" name="Google Shape;356;p26"/>
            <p:cNvSpPr/>
            <p:nvPr/>
          </p:nvSpPr>
          <p:spPr>
            <a:xfrm>
              <a:off x="6978997" y="3347442"/>
              <a:ext cx="4603500" cy="985800"/>
            </a:xfrm>
            <a:prstGeom prst="roundRect">
              <a:avLst>
                <a:gd fmla="val 7729" name="adj"/>
              </a:avLst>
            </a:prstGeom>
            <a:solidFill>
              <a:srgbClr val="FFFC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6978997" y="3347442"/>
              <a:ext cx="38100" cy="9858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358" name="Google Shape;358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88547" y="3533179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26"/>
            <p:cNvSpPr txBox="1"/>
            <p:nvPr/>
          </p:nvSpPr>
          <p:spPr>
            <a:xfrm>
              <a:off x="7188547" y="3776067"/>
              <a:ext cx="4317600" cy="3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78350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Peningkatan durasi ke rentang </a:t>
              </a:r>
              <a:r>
                <a:rPr b="1" i="0" lang="en-US" sz="1012" u="none" cap="none" strike="noStrike">
                  <a:solidFill>
                    <a:srgbClr val="78350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26–29 menit</a:t>
              </a:r>
              <a:r>
                <a:rPr b="0" i="0" lang="en-US" sz="1012" u="none" cap="none" strike="noStrike">
                  <a:solidFill>
                    <a:srgbClr val="78350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terdeteksi pada jam makan siang dan jam pulang kerja kantor.</a:t>
              </a:r>
              <a:endParaRPr/>
            </a:p>
          </p:txBody>
        </p:sp>
        <p:sp>
          <p:nvSpPr>
            <p:cNvPr id="360" name="Google Shape;360;p26"/>
            <p:cNvSpPr txBox="1"/>
            <p:nvPr/>
          </p:nvSpPr>
          <p:spPr>
            <a:xfrm>
              <a:off x="7436200" y="3518900"/>
              <a:ext cx="4015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92400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Sesi Padat Sedang: 11.00-14.00 &amp; 17.00-18.00</a:t>
              </a:r>
              <a:endParaRPr/>
            </a:p>
          </p:txBody>
        </p:sp>
      </p:grpSp>
      <p:grpSp>
        <p:nvGrpSpPr>
          <p:cNvPr id="361" name="Google Shape;361;p26"/>
          <p:cNvGrpSpPr/>
          <p:nvPr/>
        </p:nvGrpSpPr>
        <p:grpSpPr>
          <a:xfrm>
            <a:off x="4056772" y="5536004"/>
            <a:ext cx="4603500" cy="985800"/>
            <a:chOff x="6978997" y="4485679"/>
            <a:chExt cx="4603500" cy="985800"/>
          </a:xfrm>
        </p:grpSpPr>
        <p:sp>
          <p:nvSpPr>
            <p:cNvPr id="362" name="Google Shape;362;p26"/>
            <p:cNvSpPr/>
            <p:nvPr/>
          </p:nvSpPr>
          <p:spPr>
            <a:xfrm>
              <a:off x="6978997" y="4485679"/>
              <a:ext cx="4603500" cy="985800"/>
            </a:xfrm>
            <a:prstGeom prst="roundRect">
              <a:avLst>
                <a:gd fmla="val 7729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6978997" y="4485679"/>
              <a:ext cx="38100" cy="98580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364" name="Google Shape;3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88547" y="4671417"/>
              <a:ext cx="152400" cy="171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26"/>
            <p:cNvSpPr txBox="1"/>
            <p:nvPr/>
          </p:nvSpPr>
          <p:spPr>
            <a:xfrm>
              <a:off x="7188547" y="4914304"/>
              <a:ext cx="4317600" cy="3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2" u="none" cap="none" strike="noStrike">
                  <a:solidFill>
                    <a:srgbClr val="16653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Pengiriman tercepat dicapai pada rentang waktu ini dengan rata-rata hanya </a:t>
              </a:r>
              <a:r>
                <a:rPr b="1" i="0" lang="en-US" sz="1012" u="none" cap="none" strike="noStrike">
                  <a:solidFill>
                    <a:srgbClr val="16653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19–22 menit</a:t>
              </a:r>
              <a:r>
                <a:rPr b="0" i="0" lang="en-US" sz="1012" u="none" cap="none" strike="noStrike">
                  <a:solidFill>
                    <a:srgbClr val="166534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.</a:t>
              </a:r>
              <a:endParaRPr/>
            </a:p>
          </p:txBody>
        </p:sp>
        <p:sp>
          <p:nvSpPr>
            <p:cNvPr id="366" name="Google Shape;366;p26"/>
            <p:cNvSpPr txBox="1"/>
            <p:nvPr/>
          </p:nvSpPr>
          <p:spPr>
            <a:xfrm>
              <a:off x="7417150" y="4657125"/>
              <a:ext cx="4089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14532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Waktu Optimal: Pagi (08-10) &amp; Malam Akhir (22-23)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370702"/>
            <a:ext cx="5958949" cy="51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7"/>
          <p:cNvSpPr/>
          <p:nvPr/>
        </p:nvSpPr>
        <p:spPr>
          <a:xfrm>
            <a:off x="6978997" y="2199233"/>
            <a:ext cx="4603500" cy="985800"/>
          </a:xfrm>
          <a:prstGeom prst="roundRect">
            <a:avLst>
              <a:gd fmla="val 7729" name="adj"/>
            </a:avLst>
          </a:prstGeom>
          <a:solidFill>
            <a:srgbClr val="1328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6978997" y="3337470"/>
            <a:ext cx="4603500" cy="1178700"/>
          </a:xfrm>
          <a:prstGeom prst="roundRect">
            <a:avLst>
              <a:gd fmla="val 6464" name="adj"/>
            </a:avLst>
          </a:prstGeom>
          <a:solidFill>
            <a:srgbClr val="311E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6978997" y="4668589"/>
            <a:ext cx="4603500" cy="1178700"/>
          </a:xfrm>
          <a:prstGeom prst="roundRect">
            <a:avLst>
              <a:gd fmla="val 6464" name="adj"/>
            </a:avLst>
          </a:prstGeom>
          <a:solidFill>
            <a:srgbClr val="1E1D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6978997" y="2199233"/>
            <a:ext cx="38100" cy="9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6978997" y="3337470"/>
            <a:ext cx="38100" cy="1178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6978997" y="4668589"/>
            <a:ext cx="38100" cy="11787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8" name="Google Shape;37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8547" y="238497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8547" y="352320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547" y="485432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ANALISIS SPASIAL &amp; DISTRIBUSI GEOGRAFIS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82" name="Google Shape;382;p27"/>
          <p:cNvSpPr txBox="1"/>
          <p:nvPr/>
        </p:nvSpPr>
        <p:spPr>
          <a:xfrm>
            <a:off x="609600" y="68580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Konsentrasi Pengiriman di Wilayah Barat-Selatan &amp; Red Alert di India Timur</a:t>
            </a:r>
            <a:endParaRPr/>
          </a:p>
        </p:txBody>
      </p:sp>
      <p:sp>
        <p:nvSpPr>
          <p:cNvPr id="383" name="Google Shape;383;p27"/>
          <p:cNvSpPr txBox="1"/>
          <p:nvPr/>
        </p:nvSpPr>
        <p:spPr>
          <a:xfrm>
            <a:off x="7188547" y="2627858"/>
            <a:ext cx="43176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terbesar terpusat di wilayah </a:t>
            </a:r>
            <a:r>
              <a:rPr b="1" i="0" lang="en-US" sz="1012" u="none" cap="none" strike="noStrik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Mumbai–Pune–Surat</a:t>
            </a:r>
            <a:r>
              <a:rPr b="0" i="0" lang="en-US" sz="1012" u="none" cap="none" strike="noStrik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(Barat), </a:t>
            </a:r>
            <a:r>
              <a:rPr b="1" i="0" lang="en-US" sz="1012" u="none" cap="none" strike="noStrik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Bengaluru–Chennai</a:t>
            </a:r>
            <a:r>
              <a:rPr b="0" i="0" lang="en-US" sz="1012" u="none" cap="none" strike="noStrik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(Selatan), serta wilayah **Delhi NCR** (Utara).</a:t>
            </a:r>
            <a:endParaRPr/>
          </a:p>
        </p:txBody>
      </p:sp>
      <p:sp>
        <p:nvSpPr>
          <p:cNvPr id="384" name="Google Shape;384;p27"/>
          <p:cNvSpPr txBox="1"/>
          <p:nvPr/>
        </p:nvSpPr>
        <p:spPr>
          <a:xfrm>
            <a:off x="7188547" y="3766095"/>
            <a:ext cx="43176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FCA5A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Terdeteksi 1 titik merah utama di India Timur (area Kanke/Asansol dekat Kolkata) yang mengindikasikan keterlambatan parah / efisiensi terendah.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7188547" y="5097214"/>
            <a:ext cx="43176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E9D5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Jalur logistik terpusat di sepanjang koridor pantai barat dan selatan, sementara area tengah dan timur masih memiliki kepadatan jaringan yang sangat rendah.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7398097" y="2370683"/>
            <a:ext cx="36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F2F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Kluster Utama: Barat, Selatan &amp; Utara</a:t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7436197" y="3508920"/>
            <a:ext cx="321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ECAC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Titik Kritis Merah: Kanke / Asansol</a:t>
            </a:r>
            <a:endParaRPr/>
          </a:p>
        </p:txBody>
      </p:sp>
      <p:sp>
        <p:nvSpPr>
          <p:cNvPr id="388" name="Google Shape;388;p27"/>
          <p:cNvSpPr txBox="1"/>
          <p:nvPr/>
        </p:nvSpPr>
        <p:spPr>
          <a:xfrm>
            <a:off x="7436197" y="4840039"/>
            <a:ext cx="326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3E8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Pola Koridor &amp; Disparitas Regional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"/>
          <p:cNvSpPr/>
          <p:nvPr/>
        </p:nvSpPr>
        <p:spPr>
          <a:xfrm>
            <a:off x="10038159" y="2057523"/>
            <a:ext cx="819300" cy="2190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10038159" y="2552823"/>
            <a:ext cx="819300" cy="2190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10038159" y="3048123"/>
            <a:ext cx="819300" cy="2190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10038159" y="3543423"/>
            <a:ext cx="819300" cy="2190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10038159" y="4038723"/>
            <a:ext cx="819300" cy="2190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8" name="Google Shape;398;p28"/>
          <p:cNvGraphicFramePr/>
          <p:nvPr/>
        </p:nvGraphicFramePr>
        <p:xfrm>
          <a:off x="609600" y="14860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{01B6EEC9-1F3D-4413-89D4-5639D395B318}</a:tableStyleId>
              </a:tblPr>
              <a:tblGrid>
                <a:gridCol w="2685750"/>
                <a:gridCol w="1497500"/>
                <a:gridCol w="5111950"/>
                <a:gridCol w="1677600"/>
              </a:tblGrid>
              <a:tr h="48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Hipotesis &amp; Pengujian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Metode Metrik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Hasil Analisis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Kesimpulan Statistik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8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H1: Rating Kurir Tinggi = Lebih Cepat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Two-sample t-test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Kurir rating tinggi memangkas waktu rata-rata secara signifikan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H2: Pengaruh Kondisi Cuaca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ANOVA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Cuaca buruk (Fog/Cloudy) memperlambat durasi pengiriman secara nyata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H3: Perbedaan Usia Kurir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Two-sample t-test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Kurir muda (&lt;30 thn) signifikan lebih cepat dibanding kurir senior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H4: Pengaruh Kepadatan Lalu Lintas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ANOVA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Kemacetan jalan berbanding lurus dengan peningkatan keterlambatan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H5: Dampak Hari Libur / Festival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Two-sample t-test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Festival meningkatkan waktu pengiriman secara dramatis (45.36 min)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H6: Efisiensi Jenis Kendaraan</a:t>
                      </a:r>
                      <a:endParaRPr b="1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ANOVA</a:t>
                      </a:r>
                      <a:endParaRPr b="0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Rata-rata waktu pengiriman berbeda signifikan antar moda transportasi</a:t>
                      </a:r>
                      <a:endParaRPr b="0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H7: Variasi Antar Kota</a:t>
                      </a:r>
                      <a:endParaRPr b="1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ANOVA</a:t>
                      </a:r>
                      <a:endParaRPr b="0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Semi-urban membutuhkan waktu jauh lebih lama dibanding urban</a:t>
                      </a:r>
                      <a:endParaRPr b="0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H8: Lonjakan Peak Hours</a:t>
                      </a:r>
                      <a:endParaRPr b="1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Two-sample t-test</a:t>
                      </a:r>
                      <a:endParaRPr b="0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Waktu pengiriman jam sibuk signifikan lebih lama dari off-peak</a:t>
                      </a:r>
                      <a:endParaRPr b="0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H9: Interaksi Peak Hours &amp; Tipe Pesanan</a:t>
                      </a:r>
                      <a:endParaRPr b="1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Two-way ANOVA</a:t>
                      </a:r>
                      <a:endParaRPr b="0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D374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Tidak ada efek interaksi; jam sibuk berdampak sama pada semua jenis pesanan</a:t>
                      </a:r>
                      <a:endParaRPr b="0" i="0" sz="1050" u="none" cap="none" strike="noStrike">
                        <a:solidFill>
                          <a:srgbClr val="2D3748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9" name="Google Shape;399;p28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UJI HIPOTESIS STATISTIK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00" name="Google Shape;400;p28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Validasi Hipotesis Operasional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1" name="Google Shape;401;p28"/>
          <p:cNvSpPr txBox="1"/>
          <p:nvPr/>
        </p:nvSpPr>
        <p:spPr>
          <a:xfrm>
            <a:off x="10152459" y="2095623"/>
            <a:ext cx="68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H0 Ditolak</a:t>
            </a:r>
            <a:endParaRPr/>
          </a:p>
        </p:txBody>
      </p:sp>
      <p:sp>
        <p:nvSpPr>
          <p:cNvPr id="402" name="Google Shape;402;p28"/>
          <p:cNvSpPr txBox="1"/>
          <p:nvPr/>
        </p:nvSpPr>
        <p:spPr>
          <a:xfrm>
            <a:off x="10152459" y="2590923"/>
            <a:ext cx="68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H0 Ditolak</a:t>
            </a:r>
            <a:endParaRPr/>
          </a:p>
        </p:txBody>
      </p:sp>
      <p:sp>
        <p:nvSpPr>
          <p:cNvPr id="403" name="Google Shape;403;p28"/>
          <p:cNvSpPr txBox="1"/>
          <p:nvPr/>
        </p:nvSpPr>
        <p:spPr>
          <a:xfrm>
            <a:off x="10152459" y="3086223"/>
            <a:ext cx="68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H0 Ditolak</a:t>
            </a:r>
            <a:endParaRPr/>
          </a:p>
        </p:txBody>
      </p:sp>
      <p:sp>
        <p:nvSpPr>
          <p:cNvPr id="404" name="Google Shape;404;p28"/>
          <p:cNvSpPr txBox="1"/>
          <p:nvPr/>
        </p:nvSpPr>
        <p:spPr>
          <a:xfrm>
            <a:off x="10152459" y="3581523"/>
            <a:ext cx="68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H0 Ditolak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10152459" y="4076823"/>
            <a:ext cx="68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H0 Ditolak</a:t>
            </a:r>
            <a:endParaRPr/>
          </a:p>
        </p:txBody>
      </p:sp>
      <p:sp>
        <p:nvSpPr>
          <p:cNvPr id="406" name="Google Shape;406;p28"/>
          <p:cNvSpPr txBox="1"/>
          <p:nvPr/>
        </p:nvSpPr>
        <p:spPr>
          <a:xfrm>
            <a:off x="10152459" y="4534023"/>
            <a:ext cx="68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H0 Ditolak</a:t>
            </a:r>
            <a:endParaRPr/>
          </a:p>
        </p:txBody>
      </p:sp>
      <p:sp>
        <p:nvSpPr>
          <p:cNvPr id="407" name="Google Shape;407;p28"/>
          <p:cNvSpPr txBox="1"/>
          <p:nvPr/>
        </p:nvSpPr>
        <p:spPr>
          <a:xfrm>
            <a:off x="10165845" y="5026234"/>
            <a:ext cx="68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H0 Ditolak</a:t>
            </a:r>
            <a:endParaRPr/>
          </a:p>
        </p:txBody>
      </p:sp>
      <p:sp>
        <p:nvSpPr>
          <p:cNvPr id="408" name="Google Shape;408;p28"/>
          <p:cNvSpPr txBox="1"/>
          <p:nvPr/>
        </p:nvSpPr>
        <p:spPr>
          <a:xfrm>
            <a:off x="10165845" y="5518434"/>
            <a:ext cx="68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H0 Ditolak</a:t>
            </a:r>
            <a:endParaRPr/>
          </a:p>
        </p:txBody>
      </p:sp>
      <p:sp>
        <p:nvSpPr>
          <p:cNvPr id="409" name="Google Shape;409;p28"/>
          <p:cNvSpPr txBox="1"/>
          <p:nvPr/>
        </p:nvSpPr>
        <p:spPr>
          <a:xfrm>
            <a:off x="10132550" y="6010623"/>
            <a:ext cx="752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H0 Diterima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"/>
          <p:cNvSpPr/>
          <p:nvPr/>
        </p:nvSpPr>
        <p:spPr>
          <a:xfrm>
            <a:off x="609600" y="1299122"/>
            <a:ext cx="3505200" cy="23778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4343400" y="1299122"/>
            <a:ext cx="3505200" cy="23778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8077200" y="1299122"/>
            <a:ext cx="3505200" cy="23778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609600" y="1299120"/>
            <a:ext cx="3505200" cy="3810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4343400" y="1299120"/>
            <a:ext cx="3505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9"/>
          <p:cNvSpPr/>
          <p:nvPr/>
        </p:nvSpPr>
        <p:spPr>
          <a:xfrm>
            <a:off x="8077200" y="1299120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0" name="Google Shape;4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1603920"/>
            <a:ext cx="2971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0100" y="1603920"/>
            <a:ext cx="2971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0" y="1603920"/>
            <a:ext cx="2971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REKOMENDASI STRATEGIS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24" name="Google Shape;424;p29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ZOMATO DELIVERIES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5" name="Google Shape;425;p29"/>
          <p:cNvSpPr txBox="1"/>
          <p:nvPr/>
        </p:nvSpPr>
        <p:spPr>
          <a:xfrm>
            <a:off x="876300" y="2023020"/>
            <a:ext cx="39004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Dinamisasi Cuaca</a:t>
            </a:r>
            <a:endParaRPr/>
          </a:p>
        </p:txBody>
      </p:sp>
      <p:sp>
        <p:nvSpPr>
          <p:cNvPr id="426" name="Google Shape;426;p29"/>
          <p:cNvSpPr txBox="1"/>
          <p:nvPr/>
        </p:nvSpPr>
        <p:spPr>
          <a:xfrm>
            <a:off x="876300" y="2356395"/>
            <a:ext cx="30670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Penyesuaian estimasi SLA otomatis saat cuaca buruk, insentif khusus kurir hujan, serta pembekalan perlengkapan keselamatan standar.</a:t>
            </a:r>
            <a:endParaRPr/>
          </a:p>
        </p:txBody>
      </p:sp>
      <p:sp>
        <p:nvSpPr>
          <p:cNvPr id="427" name="Google Shape;427;p29"/>
          <p:cNvSpPr txBox="1"/>
          <p:nvPr/>
        </p:nvSpPr>
        <p:spPr>
          <a:xfrm>
            <a:off x="4610100" y="2023020"/>
            <a:ext cx="39004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Skema Musim Festival</a:t>
            </a:r>
            <a:endParaRPr/>
          </a:p>
        </p:txBody>
      </p:sp>
      <p:sp>
        <p:nvSpPr>
          <p:cNvPr id="428" name="Google Shape;428;p29"/>
          <p:cNvSpPr txBox="1"/>
          <p:nvPr/>
        </p:nvSpPr>
        <p:spPr>
          <a:xfrm>
            <a:off x="4610100" y="2356395"/>
            <a:ext cx="30670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Penambahan staf pengantar sementara, fitur pre-order pesanan, serta pembagian slot waktu pengiriman untuk mengurai lonjakan permintaan.</a:t>
            </a:r>
            <a:endParaRPr/>
          </a:p>
        </p:txBody>
      </p:sp>
      <p:sp>
        <p:nvSpPr>
          <p:cNvPr id="429" name="Google Shape;429;p29"/>
          <p:cNvSpPr txBox="1"/>
          <p:nvPr/>
        </p:nvSpPr>
        <p:spPr>
          <a:xfrm>
            <a:off x="8343900" y="2023020"/>
            <a:ext cx="3848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Navigasi &amp; Rute Pintar</a:t>
            </a:r>
            <a:endParaRPr/>
          </a:p>
        </p:txBody>
      </p:sp>
      <p:sp>
        <p:nvSpPr>
          <p:cNvPr id="430" name="Google Shape;430;p29"/>
          <p:cNvSpPr txBox="1"/>
          <p:nvPr/>
        </p:nvSpPr>
        <p:spPr>
          <a:xfrm>
            <a:off x="8343900" y="2356395"/>
            <a:ext cx="3067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Integrasi data lalu lintas real-time untuk </a:t>
            </a:r>
            <a:r>
              <a:rPr b="0" i="1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rerouting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demi menghindari titik macet total (Traffic Jam) secara proaktif.</a:t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609600" y="3905522"/>
            <a:ext cx="3505200" cy="24954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609600" y="3905520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3" name="Google Shape;43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4210320"/>
            <a:ext cx="2971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9"/>
          <p:cNvSpPr txBox="1"/>
          <p:nvPr/>
        </p:nvSpPr>
        <p:spPr>
          <a:xfrm>
            <a:off x="876300" y="4629420"/>
            <a:ext cx="390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Alokasi Armada Tepat</a:t>
            </a:r>
            <a:endParaRPr/>
          </a:p>
        </p:txBody>
      </p:sp>
      <p:sp>
        <p:nvSpPr>
          <p:cNvPr id="435" name="Google Shape;435;p29"/>
          <p:cNvSpPr txBox="1"/>
          <p:nvPr/>
        </p:nvSpPr>
        <p:spPr>
          <a:xfrm>
            <a:off x="876300" y="4962795"/>
            <a:ext cx="30672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Prioritaskan e-scooter pada area urban jarak pendek di jam normal. Manfaatkan motor konvensional untuk rute antar wilayah yang lebih luas.</a:t>
            </a:r>
            <a:endParaRPr/>
          </a:p>
        </p:txBody>
      </p:sp>
      <p:sp>
        <p:nvSpPr>
          <p:cNvPr id="436" name="Google Shape;436;p29"/>
          <p:cNvSpPr/>
          <p:nvPr/>
        </p:nvSpPr>
        <p:spPr>
          <a:xfrm>
            <a:off x="4343400" y="3905522"/>
            <a:ext cx="3505200" cy="24954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8077200" y="3905522"/>
            <a:ext cx="3505200" cy="24954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4343400" y="3905520"/>
            <a:ext cx="35052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8077200" y="3905520"/>
            <a:ext cx="350520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0" name="Google Shape;44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0100" y="4210320"/>
            <a:ext cx="2971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4210320"/>
            <a:ext cx="2971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9"/>
          <p:cNvSpPr txBox="1"/>
          <p:nvPr/>
        </p:nvSpPr>
        <p:spPr>
          <a:xfrm>
            <a:off x="4610100" y="4629420"/>
            <a:ext cx="390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 Khusus Semi-Urban</a:t>
            </a:r>
            <a:endParaRPr/>
          </a:p>
        </p:txBody>
      </p:sp>
      <p:sp>
        <p:nvSpPr>
          <p:cNvPr id="443" name="Google Shape;443;p29"/>
          <p:cNvSpPr txBox="1"/>
          <p:nvPr/>
        </p:nvSpPr>
        <p:spPr>
          <a:xfrm>
            <a:off x="4610100" y="4962795"/>
            <a:ext cx="30672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Membangun hub pengiriman perantara di wilayah semi-urban untuk memotong durasi tempuh rata-rata yang saat ini mencapai 49.37 menit.</a:t>
            </a:r>
            <a:endParaRPr/>
          </a:p>
        </p:txBody>
      </p:sp>
      <p:sp>
        <p:nvSpPr>
          <p:cNvPr id="444" name="Google Shape;444;p29"/>
          <p:cNvSpPr txBox="1"/>
          <p:nvPr/>
        </p:nvSpPr>
        <p:spPr>
          <a:xfrm>
            <a:off x="8343900" y="4629420"/>
            <a:ext cx="384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374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Surge Pricing &amp; Mentoring</a:t>
            </a:r>
            <a:endParaRPr/>
          </a:p>
        </p:txBody>
      </p:sp>
      <p:sp>
        <p:nvSpPr>
          <p:cNvPr id="445" name="Google Shape;445;p29"/>
          <p:cNvSpPr txBox="1"/>
          <p:nvPr/>
        </p:nvSpPr>
        <p:spPr>
          <a:xfrm>
            <a:off x="8343900" y="4962795"/>
            <a:ext cx="306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Terapkan </a:t>
            </a:r>
            <a:r>
              <a:rPr b="0" i="1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surge pricing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saat peak hours untuk mengendalikan beban order, serta program mentoring kurir senior dengan kurir muda.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OVERVIEW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51" name="Google Shape;45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100" y="1198088"/>
            <a:ext cx="9547800" cy="53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1F31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1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APPENDIX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57" name="Google Shape;4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302" y="2149300"/>
            <a:ext cx="7315401" cy="190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1"/>
          <p:cNvSpPr txBox="1"/>
          <p:nvPr/>
        </p:nvSpPr>
        <p:spPr>
          <a:xfrm>
            <a:off x="2438300" y="4286250"/>
            <a:ext cx="186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Power BI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9" name="Google Shape;459;p31"/>
          <p:cNvSpPr txBox="1"/>
          <p:nvPr/>
        </p:nvSpPr>
        <p:spPr>
          <a:xfrm>
            <a:off x="7120900" y="4286250"/>
            <a:ext cx="232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Collab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32"/>
          <p:cNvGrpSpPr/>
          <p:nvPr/>
        </p:nvGrpSpPr>
        <p:grpSpPr>
          <a:xfrm>
            <a:off x="0" y="0"/>
            <a:ext cx="12942345" cy="7155600"/>
            <a:chOff x="0" y="0"/>
            <a:chExt cx="12942345" cy="7155600"/>
          </a:xfrm>
        </p:grpSpPr>
        <p:pic>
          <p:nvPicPr>
            <p:cNvPr id="465" name="Google Shape;465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12942345" cy="715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2"/>
            <p:cNvSpPr/>
            <p:nvPr/>
          </p:nvSpPr>
          <p:spPr>
            <a:xfrm>
              <a:off x="0" y="0"/>
              <a:ext cx="12577800" cy="7155600"/>
            </a:xfrm>
            <a:prstGeom prst="rect">
              <a:avLst/>
            </a:prstGeom>
            <a:solidFill>
              <a:srgbClr val="D01F31">
                <a:alpha val="5688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D01F31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p32"/>
          <p:cNvSpPr/>
          <p:nvPr/>
        </p:nvSpPr>
        <p:spPr>
          <a:xfrm>
            <a:off x="4328400" y="4329100"/>
            <a:ext cx="3535200" cy="44760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3594229" y="2303625"/>
            <a:ext cx="500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Terima Kasih</a:t>
            </a:r>
            <a:endParaRPr sz="6000"/>
          </a:p>
        </p:txBody>
      </p:sp>
      <p:sp>
        <p:nvSpPr>
          <p:cNvPr id="469" name="Google Shape;469;p32"/>
          <p:cNvSpPr txBox="1"/>
          <p:nvPr/>
        </p:nvSpPr>
        <p:spPr>
          <a:xfrm>
            <a:off x="2524125" y="3452812"/>
            <a:ext cx="7143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Transformasi Operasional Pengiriman Zomato Berbasis Data Analytics &amp; Keputusan Terukur.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470" name="Google Shape;470;p32"/>
          <p:cNvSpPr txBox="1"/>
          <p:nvPr/>
        </p:nvSpPr>
        <p:spPr>
          <a:xfrm>
            <a:off x="4328400" y="4460500"/>
            <a:ext cx="353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Muhammad Rizky Ginanjar | DABI 23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